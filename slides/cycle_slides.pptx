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0" y="502920"/>
            <a:ext cx="9265615" cy="329184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800" b="0">
                <a:solidFill>
                  <a:srgbClr val="1212CC"/>
                </a:solidFill>
              </a:rPr>
              <a:t>¬acyclic(R₁,…,Rₖ) ∈ Δ*        ((R₁,…,Rₖ), _, _) ∉ C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352647" y="877824"/>
            <a:ext cx="7132320" cy="0"/>
          </a:xfrm>
          <a:prstGeom prst="line">
            <a:avLst/>
          </a:prstGeom>
          <a:ln w="19050">
            <a:solidFill>
              <a:srgbClr val="1212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286000" y="950976"/>
            <a:ext cx="9265615" cy="329184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800" b="0">
                <a:solidFill>
                  <a:srgbClr val="1212CC"/>
                </a:solidFill>
              </a:rPr>
              <a:t>C := C ∪ {((R₁,…,Rₖ), s, 1)}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280160"/>
            <a:ext cx="9265615" cy="329184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800" b="0">
                <a:solidFill>
                  <a:srgbClr val="1212CC"/>
                </a:solidFill>
              </a:rPr>
              <a:t>Δ := Δ ∪ {len(s) &gt; 1, minimal((R₁,…,Rₖ), s)}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91540"/>
            <a:ext cx="1828800" cy="329184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800" b="0">
                <a:solidFill>
                  <a:srgbClr val="1212CC"/>
                </a:solidFill>
              </a:rPr>
              <a:t>InstCycle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993392"/>
            <a:ext cx="9265615" cy="329184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800" b="0">
                <a:solidFill>
                  <a:srgbClr val="1212CC"/>
                </a:solidFill>
              </a:rPr>
              <a:t>((R₁,…,Rₖ), s, cnt) ∈ C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86887" y="2368296"/>
            <a:ext cx="7863840" cy="0"/>
          </a:xfrm>
          <a:prstGeom prst="line">
            <a:avLst/>
          </a:prstGeom>
          <a:ln w="19050">
            <a:solidFill>
              <a:srgbClr val="1212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86000" y="2441448"/>
            <a:ext cx="9265615" cy="329184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800" b="0">
                <a:solidFill>
                  <a:srgbClr val="1212CC"/>
                </a:solidFill>
              </a:rPr>
              <a:t>Δ := Δ ∪ {cnt &lt; len(s)}      ‖      Δ := Δ ∪ {cnt ≈ len(s)}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17420"/>
            <a:ext cx="1828800" cy="329184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800" b="0">
                <a:solidFill>
                  <a:srgbClr val="1212CC"/>
                </a:solidFill>
              </a:rPr>
              <a:t>SplitCycleLen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3154680"/>
            <a:ext cx="9265615" cy="329184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800" b="0">
                <a:solidFill>
                  <a:srgbClr val="1212CC"/>
                </a:solidFill>
              </a:rPr>
              <a:t>((R₁,…,Rₖ), s, cnt) ∈ C        cnt &lt; len(s) ∈ Δ*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3483864"/>
            <a:ext cx="9265615" cy="329184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800" b="0">
                <a:solidFill>
                  <a:srgbClr val="1212CC"/>
                </a:solidFill>
              </a:rPr>
              <a:t>C′ ≡ C \ {((R₁,…,Rₖ), s, cnt)} ∪ {((R₁,…,Rₖ), s, cnt+1)}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9687" y="3858768"/>
            <a:ext cx="8778240" cy="0"/>
          </a:xfrm>
          <a:prstGeom prst="line">
            <a:avLst/>
          </a:prstGeom>
          <a:ln w="19050">
            <a:solidFill>
              <a:srgbClr val="1212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286000" y="3931920"/>
            <a:ext cx="9265615" cy="329184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800" b="0">
                <a:solidFill>
                  <a:srgbClr val="1212CC"/>
                </a:solidFill>
              </a:rPr>
              <a:t>C := C′      Δ := Δ ∪ {(s[cnt-1], s[cnt]) ∈ R₁⁺}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4261104"/>
            <a:ext cx="9265615" cy="329184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800" b="0">
                <a:solidFill>
                  <a:srgbClr val="1212CC"/>
                </a:solidFill>
              </a:rPr>
              <a:t>‖   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4590288"/>
            <a:ext cx="9265615" cy="329184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800" b="0">
                <a:solidFill>
                  <a:srgbClr val="1212CC"/>
                </a:solidFill>
              </a:rPr>
              <a:t>‖   C := C′      Δ := Δ ∪ {(s[cnt-1], s[cnt]) ∈ Rₖ⁺}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872484"/>
            <a:ext cx="1828800" cy="329184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800" b="0">
                <a:solidFill>
                  <a:srgbClr val="1212CC"/>
                </a:solidFill>
              </a:rPr>
              <a:t>UnrollCycle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5303520"/>
            <a:ext cx="9265615" cy="329184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800" b="0">
                <a:solidFill>
                  <a:srgbClr val="1212CC"/>
                </a:solidFill>
              </a:rPr>
              <a:t>((R₁,…,Rₖ), s, cnt) ∈ C        minimal((R₁,…,Rₖ), 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5632704"/>
            <a:ext cx="9265615" cy="329184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800" b="0">
                <a:solidFill>
                  <a:srgbClr val="1212CC"/>
                </a:solidFill>
              </a:rPr>
              <a:t>b ∈ [1, k]        1 ≤ q &lt; r−1 ≤ len(s)        (s[q], s[r]) ∈ R_b⁺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529687" y="6007608"/>
            <a:ext cx="8778240" cy="0"/>
          </a:xfrm>
          <a:prstGeom prst="line">
            <a:avLst/>
          </a:prstGeom>
          <a:ln w="19050">
            <a:solidFill>
              <a:srgbClr val="1212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286000" y="6080760"/>
            <a:ext cx="9265615" cy="329184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800" b="0">
                <a:solidFill>
                  <a:srgbClr val="1212CC"/>
                </a:solidFill>
              </a:rPr>
              <a:t>unsat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692140"/>
            <a:ext cx="1828800" cy="329184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800" b="0">
                <a:solidFill>
                  <a:srgbClr val="1212CC"/>
                </a:solidFill>
              </a:rPr>
              <a:t>ContrMinimal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12121"/>
                </a:solidFill>
              </a:rPr>
              <a:t>Example 1: SAT instance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D32F2F"/>
                </a:solidFill>
                <a:latin typeface="Consolas"/>
              </a:rPr>
              <a:t>R1 = {(a, b)}</a:t>
            </a:r>
          </a:p>
          <a:p>
            <a:pPr>
              <a:spcAft>
                <a:spcPts val="600"/>
              </a:spcAft>
            </a:pPr>
            <a:r>
              <a:rPr sz="2800" b="1">
                <a:solidFill>
                  <a:srgbClr val="1565C0"/>
                </a:solidFill>
                <a:latin typeface="Consolas"/>
              </a:rPr>
              <a:t>R2 = {(b, a)}</a:t>
            </a:r>
          </a:p>
          <a:p>
            <a:pPr>
              <a:spcAft>
                <a:spcPts val="600"/>
              </a:spcAft>
            </a:pPr>
            <a:r>
              <a:rPr sz="2800" b="1">
                <a:solidFill>
                  <a:srgbClr val="2E7D32"/>
                </a:solidFill>
                <a:latin typeface="Consolas"/>
              </a:rPr>
              <a:t>R3 = {(c, d)}</a:t>
            </a:r>
          </a:p>
          <a:p>
            <a:pPr>
              <a:spcBef>
                <a:spcPts val="1800"/>
              </a:spcBef>
            </a:pPr>
            <a:r>
              <a:rPr sz="3000" b="1">
                <a:solidFill>
                  <a:srgbClr val="212121"/>
                </a:solidFill>
              </a:rPr>
              <a:t>¬ acyclic(R1, R2, R3)</a:t>
            </a:r>
          </a:p>
          <a:p>
            <a:pPr>
              <a:spcBef>
                <a:spcPts val="600"/>
              </a:spcBef>
            </a:pPr>
            <a:r>
              <a:rPr sz="1800" i="1">
                <a:solidFill>
                  <a:srgbClr val="AAAAAA"/>
                </a:solidFill>
              </a:rPr>
              <a:t>i.e., R1 ∪ R2 ∪ R3 contains a cycle</a:t>
            </a:r>
          </a:p>
        </p:txBody>
      </p:sp>
      <p:sp>
        <p:nvSpPr>
          <p:cNvPr id="4" name="Oval 3"/>
          <p:cNvSpPr/>
          <p:nvPr/>
        </p:nvSpPr>
        <p:spPr>
          <a:xfrm>
            <a:off x="7246620" y="1851660"/>
            <a:ext cx="685800" cy="685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212121"/>
                </a:solidFill>
              </a:rPr>
              <a:t>a</a:t>
            </a:r>
          </a:p>
        </p:txBody>
      </p:sp>
      <p:sp>
        <p:nvSpPr>
          <p:cNvPr id="5" name="Oval 4"/>
          <p:cNvSpPr/>
          <p:nvPr/>
        </p:nvSpPr>
        <p:spPr>
          <a:xfrm>
            <a:off x="9898380" y="1851660"/>
            <a:ext cx="685800" cy="685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212121"/>
                </a:solidFill>
              </a:rPr>
              <a:t>b</a:t>
            </a:r>
          </a:p>
        </p:txBody>
      </p:sp>
      <p:sp>
        <p:nvSpPr>
          <p:cNvPr id="6" name="Oval 5"/>
          <p:cNvSpPr/>
          <p:nvPr/>
        </p:nvSpPr>
        <p:spPr>
          <a:xfrm>
            <a:off x="7246620" y="4411980"/>
            <a:ext cx="685800" cy="685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212121"/>
                </a:solidFill>
              </a:rPr>
              <a:t>c</a:t>
            </a:r>
          </a:p>
        </p:txBody>
      </p:sp>
      <p:sp>
        <p:nvSpPr>
          <p:cNvPr id="7" name="Oval 6"/>
          <p:cNvSpPr/>
          <p:nvPr/>
        </p:nvSpPr>
        <p:spPr>
          <a:xfrm>
            <a:off x="9898380" y="4411980"/>
            <a:ext cx="685800" cy="685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212121"/>
                </a:solidFill>
              </a:rPr>
              <a:t>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952420" y="2048256"/>
            <a:ext cx="1925960" cy="0"/>
          </a:xfrm>
          <a:prstGeom prst="line">
            <a:avLst/>
          </a:prstGeom>
          <a:ln w="31750">
            <a:solidFill>
              <a:srgbClr val="D32F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7952420" y="2340864"/>
            <a:ext cx="1925960" cy="0"/>
          </a:xfrm>
          <a:prstGeom prst="line">
            <a:avLst/>
          </a:prstGeom>
          <a:ln w="31750">
            <a:solidFill>
              <a:srgbClr val="1565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952420" y="4754880"/>
            <a:ext cx="1925960" cy="0"/>
          </a:xfrm>
          <a:prstGeom prst="line">
            <a:avLst/>
          </a:prstGeom>
          <a:ln w="31750">
            <a:solidFill>
              <a:srgbClr val="2E7D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12121"/>
                </a:solidFill>
              </a:rPr>
              <a:t>Example 1: derivation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212121"/>
                </a:solidFill>
              </a:rPr>
              <a:t>Step 1 — InstCycle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100" b="0">
                <a:solidFill>
                  <a:srgbClr val="212121"/>
                </a:solidFill>
              </a:rPr>
              <a:t>    Premise(s):   </a:t>
            </a:r>
            <a:r>
              <a:rPr sz="2100" b="0">
                <a:solidFill>
                  <a:srgbClr val="1212CC"/>
                </a:solidFill>
              </a:rPr>
              <a:t>¬acyclic(R1, R2, R3)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100" b="0">
                <a:solidFill>
                  <a:srgbClr val="212121"/>
                </a:solidFill>
              </a:rPr>
              <a:t>    ⟹   </a:t>
            </a:r>
            <a:r>
              <a:rPr sz="2100" b="0">
                <a:solidFill>
                  <a:srgbClr val="1212CC"/>
                </a:solidFill>
              </a:rPr>
              <a:t>C = {((R1, R2, R3), s, 1)}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100" b="0">
                <a:solidFill>
                  <a:srgbClr val="212121"/>
                </a:solidFill>
              </a:rPr>
              <a:t>            </a:t>
            </a:r>
            <a:r>
              <a:rPr sz="2100" b="0">
                <a:solidFill>
                  <a:srgbClr val="1212CC"/>
                </a:solidFill>
              </a:rPr>
              <a:t>Δ = {len(s) &gt; 1, minimal(s)}</a:t>
            </a:r>
          </a:p>
          <a:p>
            <a:pPr>
              <a:spcBef>
                <a:spcPts val="1800"/>
              </a:spcBef>
              <a:spcAft>
                <a:spcPts val="400"/>
              </a:spcAft>
            </a:pPr>
            <a:r>
              <a:rPr sz="2500" b="1">
                <a:solidFill>
                  <a:srgbClr val="212121"/>
                </a:solidFill>
              </a:rPr>
              <a:t>Step 2 — SplitCycleLen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100" b="0">
                <a:solidFill>
                  <a:srgbClr val="212121"/>
                </a:solidFill>
              </a:rPr>
              <a:t>    Premise(s):   </a:t>
            </a:r>
            <a:r>
              <a:rPr sz="2100" b="0">
                <a:solidFill>
                  <a:srgbClr val="1212CC"/>
                </a:solidFill>
              </a:rPr>
              <a:t>((R1, R2, R3), s, 1) ∈ C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100" b="0">
                <a:solidFill>
                  <a:srgbClr val="212121"/>
                </a:solidFill>
              </a:rPr>
              <a:t>    ⟹   </a:t>
            </a:r>
            <a:r>
              <a:rPr sz="2100" b="0">
                <a:solidFill>
                  <a:srgbClr val="1212CC"/>
                </a:solidFill>
              </a:rPr>
              <a:t>Δ = Δ ∪ {1 &lt; len(s)}</a:t>
            </a:r>
            <a:r>
              <a:rPr sz="2100" b="1">
                <a:solidFill>
                  <a:srgbClr val="212121"/>
                </a:solidFill>
              </a:rPr>
              <a:t>      ‖      </a:t>
            </a:r>
            <a:r>
              <a:rPr sz="2100" b="0">
                <a:solidFill>
                  <a:srgbClr val="1212CC"/>
                </a:solidFill>
              </a:rPr>
              <a:t>Δ = Δ ∪ {1 = len(s)}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100" b="0">
                <a:solidFill>
                  <a:srgbClr val="212121"/>
                </a:solidFill>
              </a:rPr>
              <a:t>            </a:t>
            </a:r>
            <a:r>
              <a:rPr sz="1700" b="0">
                <a:solidFill>
                  <a:srgbClr val="AAAAAA"/>
                </a:solidFill>
              </a:rPr>
              <a:t>(we only explore case 1)</a:t>
            </a:r>
          </a:p>
          <a:p>
            <a:pPr>
              <a:spcBef>
                <a:spcPts val="1600"/>
              </a:spcBef>
              <a:spcAft>
                <a:spcPts val="400"/>
              </a:spcAft>
            </a:pPr>
            <a:r>
              <a:rPr sz="2500" b="1">
                <a:solidFill>
                  <a:srgbClr val="212121"/>
                </a:solidFill>
              </a:rPr>
              <a:t>Step 3 — UnrollCycle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100" b="0">
                <a:solidFill>
                  <a:srgbClr val="212121"/>
                </a:solidFill>
              </a:rPr>
              <a:t>    Premise(s):   </a:t>
            </a:r>
            <a:r>
              <a:rPr sz="2100" b="0">
                <a:solidFill>
                  <a:srgbClr val="1212CC"/>
                </a:solidFill>
              </a:rPr>
              <a:t>((R1, R2, R3), s, 1) ∈ C</a:t>
            </a:r>
            <a:r>
              <a:rPr sz="2100" b="0">
                <a:solidFill>
                  <a:srgbClr val="212121"/>
                </a:solidFill>
              </a:rPr>
              <a:t>   and   </a:t>
            </a:r>
            <a:r>
              <a:rPr sz="2100" b="0">
                <a:solidFill>
                  <a:srgbClr val="1212CC"/>
                </a:solidFill>
              </a:rPr>
              <a:t>1 &lt; len(s)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100" b="0">
                <a:solidFill>
                  <a:srgbClr val="212121"/>
                </a:solidFill>
              </a:rPr>
              <a:t>    ⟹   </a:t>
            </a:r>
            <a:r>
              <a:rPr sz="2100" b="0">
                <a:solidFill>
                  <a:srgbClr val="1212CC"/>
                </a:solidFill>
              </a:rPr>
              <a:t>Δ = Δ ∪ {(s[0], s[1]) ∈ R1⁺}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212121"/>
                </a:solidFill>
              </a:rPr>
              <a:t>       ‖   </a:t>
            </a:r>
            <a:r>
              <a:rPr sz="2100" b="0">
                <a:solidFill>
                  <a:srgbClr val="1212CC"/>
                </a:solidFill>
              </a:rPr>
              <a:t>Δ = Δ ∪ {(s[0], s[1]) ∈ R2⁺}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212121"/>
                </a:solidFill>
              </a:rPr>
              <a:t>       ‖   </a:t>
            </a:r>
            <a:r>
              <a:rPr sz="2100" b="0">
                <a:solidFill>
                  <a:srgbClr val="1212CC"/>
                </a:solidFill>
              </a:rPr>
              <a:t>Δ = Δ ∪ {(s[0], s[1]) ∈ R3⁺}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40880" y="1207008"/>
            <a:ext cx="4480560" cy="64008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212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12121"/>
                </a:solidFill>
              </a:rPr>
              <a:t>Δ₀ = </a:t>
            </a:r>
            <a:r>
              <a:rPr sz="1800">
                <a:solidFill>
                  <a:srgbClr val="212121"/>
                </a:solidFill>
              </a:rPr>
              <a:t>{len(s) &gt; 1, minimal(s)}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40880" y="2907792"/>
            <a:ext cx="4480560" cy="64008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212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12121"/>
                </a:solidFill>
              </a:rPr>
              <a:t>Δ₀′ = </a:t>
            </a:r>
            <a:r>
              <a:rPr sz="1800">
                <a:solidFill>
                  <a:srgbClr val="212121"/>
                </a:solidFill>
              </a:rPr>
              <a:t>{len(s) &gt; 1, minimal(s)}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12080" y="5486400"/>
            <a:ext cx="2057400" cy="12801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D3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D32F2F"/>
                </a:solidFill>
              </a:rPr>
              <a:t>Δ₁</a:t>
            </a:r>
          </a:p>
          <a:p>
            <a:pPr algn="ctr">
              <a:spcAft>
                <a:spcPts val="500"/>
              </a:spcAft>
            </a:pPr>
            <a:r>
              <a:rPr sz="1200">
                <a:solidFill>
                  <a:srgbClr val="212121"/>
                </a:solidFill>
              </a:rPr>
              <a:t>1 &lt; len(s)</a:t>
            </a:r>
          </a:p>
          <a:p>
            <a:pPr algn="ctr"/>
            <a:r>
              <a:rPr sz="1200">
                <a:solidFill>
                  <a:srgbClr val="D32F2F"/>
                </a:solidFill>
              </a:rPr>
              <a:t>(s[0], s[1]) ∈ R1⁺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5486400"/>
            <a:ext cx="2057400" cy="12801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1565C0"/>
                </a:solidFill>
              </a:rPr>
              <a:t>Δ₂</a:t>
            </a:r>
          </a:p>
          <a:p>
            <a:pPr algn="ctr">
              <a:spcAft>
                <a:spcPts val="500"/>
              </a:spcAft>
            </a:pPr>
            <a:r>
              <a:rPr sz="1200">
                <a:solidFill>
                  <a:srgbClr val="212121"/>
                </a:solidFill>
              </a:rPr>
              <a:t>1 &lt; len(s)</a:t>
            </a:r>
          </a:p>
          <a:p>
            <a:pPr algn="ctr"/>
            <a:r>
              <a:rPr sz="1200">
                <a:solidFill>
                  <a:srgbClr val="1565C0"/>
                </a:solidFill>
              </a:rPr>
              <a:t>(s[0], s[1]) ∈ R2⁺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0" y="5486400"/>
            <a:ext cx="2057400" cy="12801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2E7D32"/>
                </a:solidFill>
              </a:rPr>
              <a:t>Δ₃</a:t>
            </a:r>
          </a:p>
          <a:p>
            <a:pPr algn="ctr">
              <a:spcAft>
                <a:spcPts val="500"/>
              </a:spcAft>
            </a:pPr>
            <a:r>
              <a:rPr sz="1200">
                <a:solidFill>
                  <a:srgbClr val="212121"/>
                </a:solidFill>
              </a:rPr>
              <a:t>1 &lt; len(s)</a:t>
            </a:r>
          </a:p>
          <a:p>
            <a:pPr algn="ctr"/>
            <a:r>
              <a:rPr sz="1200">
                <a:solidFill>
                  <a:srgbClr val="2E7D32"/>
                </a:solidFill>
              </a:rPr>
              <a:t>(s[0], s[1]) ∈ R3⁺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12121"/>
                </a:solidFill>
              </a:rPr>
              <a:t>Example 1: exploring Δ₁ — Steps 4 &amp;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i="1">
                <a:solidFill>
                  <a:srgbClr val="AAAAAA"/>
                </a:solidFill>
              </a:rPr>
              <a:t>Exploring Δ₁ only (Δ₂, Δ₃ omitted).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7680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212121"/>
                </a:solidFill>
              </a:rPr>
              <a:t>Step 4 — SplitCycleLen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212121"/>
                </a:solidFill>
              </a:rPr>
              <a:t>    Premise(s):   </a:t>
            </a:r>
            <a:r>
              <a:rPr sz="1900" b="0">
                <a:solidFill>
                  <a:srgbClr val="1212CC"/>
                </a:solidFill>
              </a:rPr>
              <a:t>((R1, R2, R3), s, 2) ∈ C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212121"/>
                </a:solidFill>
              </a:rPr>
              <a:t>    ⟹   </a:t>
            </a:r>
            <a:r>
              <a:rPr sz="1900" b="0">
                <a:solidFill>
                  <a:srgbClr val="1212CC"/>
                </a:solidFill>
              </a:rPr>
              <a:t>2 &lt; len(s)</a:t>
            </a:r>
            <a:r>
              <a:rPr sz="1500" b="0">
                <a:solidFill>
                  <a:srgbClr val="212121"/>
                </a:solidFill>
              </a:rPr>
              <a:t>   (case 1 — explored)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AAAAAA"/>
                </a:solidFill>
              </a:rPr>
              <a:t>       ‖   </a:t>
            </a:r>
            <a:r>
              <a:rPr sz="1900" b="0">
                <a:solidFill>
                  <a:srgbClr val="AAAAAA"/>
                </a:solidFill>
              </a:rPr>
              <a:t>2 = len(s)</a:t>
            </a:r>
            <a:r>
              <a:rPr sz="1500" b="0">
                <a:solidFill>
                  <a:srgbClr val="AAAAAA"/>
                </a:solidFill>
              </a:rPr>
              <a:t>   (case 2 — omitted)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2300" b="1">
                <a:solidFill>
                  <a:srgbClr val="212121"/>
                </a:solidFill>
              </a:rPr>
              <a:t>Step 5 — UnrollCycle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212121"/>
                </a:solidFill>
              </a:rPr>
              <a:t>    Premise(s):   </a:t>
            </a:r>
            <a:r>
              <a:rPr sz="1900" b="0">
                <a:solidFill>
                  <a:srgbClr val="1212CC"/>
                </a:solidFill>
              </a:rPr>
              <a:t>((R1, R2, R3), s, 2) ∈ C</a:t>
            </a:r>
            <a:r>
              <a:rPr sz="1900" b="0">
                <a:solidFill>
                  <a:srgbClr val="212121"/>
                </a:solidFill>
              </a:rPr>
              <a:t>  and  </a:t>
            </a:r>
            <a:r>
              <a:rPr sz="1900" b="0">
                <a:solidFill>
                  <a:srgbClr val="1212CC"/>
                </a:solidFill>
              </a:rPr>
              <a:t>2 &lt; len(s)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212121"/>
                </a:solidFill>
              </a:rPr>
              <a:t>    ⟹   </a:t>
            </a:r>
            <a:r>
              <a:rPr sz="1900" b="0">
                <a:solidFill>
                  <a:srgbClr val="212121"/>
                </a:solidFill>
              </a:rPr>
              <a:t>(s[1], s[2]) ∈ </a:t>
            </a:r>
            <a:r>
              <a:rPr sz="1900" b="0">
                <a:solidFill>
                  <a:srgbClr val="D32F2F"/>
                </a:solidFill>
              </a:rPr>
              <a:t>R1⁺</a:t>
            </a:r>
            <a:r>
              <a:rPr sz="1900" b="1">
                <a:solidFill>
                  <a:srgbClr val="212121"/>
                </a:solidFill>
              </a:rPr>
              <a:t>  ‖  </a:t>
            </a:r>
            <a:r>
              <a:rPr sz="1900" b="0">
                <a:solidFill>
                  <a:srgbClr val="1565C0"/>
                </a:solidFill>
              </a:rPr>
              <a:t>R2⁺</a:t>
            </a:r>
            <a:r>
              <a:rPr sz="1900" b="1">
                <a:solidFill>
                  <a:srgbClr val="212121"/>
                </a:solidFill>
              </a:rPr>
              <a:t>  ‖  </a:t>
            </a:r>
            <a:r>
              <a:rPr sz="1900" b="0">
                <a:solidFill>
                  <a:srgbClr val="2E7D32"/>
                </a:solidFill>
              </a:rPr>
              <a:t>R3⁺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554480"/>
            <a:ext cx="3657600" cy="1325880"/>
          </a:xfrm>
          <a:prstGeom prst="roundRect">
            <a:avLst/>
          </a:prstGeom>
          <a:solidFill>
            <a:srgbClr val="FFFFFF"/>
          </a:solidFill>
          <a:ln w="34925">
            <a:solidFill>
              <a:srgbClr val="D3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D32F2F"/>
                </a:solidFill>
              </a:rPr>
              <a:t>Δ₁′</a:t>
            </a:r>
          </a:p>
          <a:p>
            <a:pPr algn="ctr">
              <a:spcAft>
                <a:spcPts val="300"/>
              </a:spcAft>
            </a:pPr>
            <a:r>
              <a:rPr sz="1500">
                <a:solidFill>
                  <a:srgbClr val="212121"/>
                </a:solidFill>
              </a:rPr>
              <a:t>2 &lt; len(s)</a:t>
            </a:r>
          </a:p>
          <a:p>
            <a:pPr algn="ctr">
              <a:spcAft>
                <a:spcPts val="300"/>
              </a:spcAft>
            </a:pPr>
            <a:r>
              <a:rPr sz="1500">
                <a:solidFill>
                  <a:srgbClr val="D32F2F"/>
                </a:solidFill>
              </a:rPr>
              <a:t>(s[0], s[1]) ∈ R1⁺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526280"/>
            <a:ext cx="3566160" cy="1783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AA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AAAAAA"/>
                </a:solidFill>
              </a:rPr>
              <a:t>Δ₁₁</a:t>
            </a:r>
          </a:p>
          <a:p>
            <a:pPr algn="ctr">
              <a:spcAft>
                <a:spcPts val="300"/>
              </a:spcAft>
            </a:pPr>
            <a:r>
              <a:rPr sz="1300">
                <a:solidFill>
                  <a:srgbClr val="AAAAAA"/>
                </a:solidFill>
              </a:rPr>
              <a:t>2 &lt; len(s)</a:t>
            </a:r>
          </a:p>
          <a:p>
            <a:pPr algn="ctr">
              <a:spcAft>
                <a:spcPts val="300"/>
              </a:spcAft>
            </a:pPr>
            <a:r>
              <a:rPr sz="1300">
                <a:solidFill>
                  <a:srgbClr val="AAAAAA"/>
                </a:solidFill>
              </a:rPr>
              <a:t>(s[0], s[1]) ∈ R1⁺</a:t>
            </a:r>
          </a:p>
          <a:p>
            <a:pPr algn="ctr">
              <a:spcAft>
                <a:spcPts val="300"/>
              </a:spcAft>
            </a:pPr>
            <a:r>
              <a:rPr sz="1300">
                <a:solidFill>
                  <a:srgbClr val="AAAAAA"/>
                </a:solidFill>
              </a:rPr>
              <a:t>(s[1], s[2]) ∈ R1⁺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5112" y="4526280"/>
            <a:ext cx="3566160" cy="1783080"/>
          </a:xfrm>
          <a:prstGeom prst="roundRect">
            <a:avLst/>
          </a:prstGeom>
          <a:solidFill>
            <a:srgbClr val="FFFFFF"/>
          </a:solidFill>
          <a:ln w="34925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1565C0"/>
                </a:solidFill>
              </a:rPr>
              <a:t>Δ₁₂</a:t>
            </a:r>
          </a:p>
          <a:p>
            <a:pPr algn="ctr">
              <a:spcAft>
                <a:spcPts val="300"/>
              </a:spcAft>
            </a:pPr>
            <a:r>
              <a:rPr sz="1300">
                <a:solidFill>
                  <a:srgbClr val="212121"/>
                </a:solidFill>
              </a:rPr>
              <a:t>2 &lt; len(s)</a:t>
            </a:r>
          </a:p>
          <a:p>
            <a:pPr algn="ctr">
              <a:spcAft>
                <a:spcPts val="300"/>
              </a:spcAft>
            </a:pPr>
            <a:r>
              <a:rPr sz="1300">
                <a:solidFill>
                  <a:srgbClr val="D32F2F"/>
                </a:solidFill>
              </a:rPr>
              <a:t>(s[0], s[1]) ∈ R1⁺</a:t>
            </a:r>
          </a:p>
          <a:p>
            <a:pPr algn="ctr">
              <a:spcAft>
                <a:spcPts val="300"/>
              </a:spcAft>
            </a:pPr>
            <a:r>
              <a:rPr sz="1300">
                <a:solidFill>
                  <a:srgbClr val="1565C0"/>
                </a:solidFill>
              </a:rPr>
              <a:t>(s[1], s[2]) ∈ R2⁺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47304" y="4526280"/>
            <a:ext cx="3566160" cy="1783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AA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AAAAAA"/>
                </a:solidFill>
              </a:rPr>
              <a:t>Δ₁₃</a:t>
            </a:r>
          </a:p>
          <a:p>
            <a:pPr algn="ctr">
              <a:spcAft>
                <a:spcPts val="300"/>
              </a:spcAft>
            </a:pPr>
            <a:r>
              <a:rPr sz="1300">
                <a:solidFill>
                  <a:srgbClr val="AAAAAA"/>
                </a:solidFill>
              </a:rPr>
              <a:t>2 &lt; len(s)</a:t>
            </a:r>
          </a:p>
          <a:p>
            <a:pPr algn="ctr">
              <a:spcAft>
                <a:spcPts val="300"/>
              </a:spcAft>
            </a:pPr>
            <a:r>
              <a:rPr sz="1300">
                <a:solidFill>
                  <a:srgbClr val="AAAAAA"/>
                </a:solidFill>
              </a:rPr>
              <a:t>(s[0], s[1]) ∈ R1⁺</a:t>
            </a:r>
          </a:p>
          <a:p>
            <a:pPr algn="ctr">
              <a:spcAft>
                <a:spcPts val="300"/>
              </a:spcAft>
            </a:pPr>
            <a:r>
              <a:rPr sz="1300">
                <a:solidFill>
                  <a:srgbClr val="AAAAAA"/>
                </a:solidFill>
              </a:rPr>
              <a:t>(s[1], s[2]) ∈ R3⁺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i="1">
                <a:solidFill>
                  <a:srgbClr val="AAAAAA"/>
                </a:solidFill>
              </a:rPr>
              <a:t>We explore Δ₁₂ only (Δ₁₁, Δ₁₃ omitted).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12121"/>
                </a:solidFill>
              </a:rPr>
              <a:t>Example 1: exploring Δ₁ — Step 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41080" y="960120"/>
            <a:ext cx="3063240" cy="1783080"/>
          </a:xfrm>
          <a:prstGeom prst="roundRect">
            <a:avLst/>
          </a:prstGeom>
          <a:solidFill>
            <a:srgbClr val="FFFFFF"/>
          </a:solidFill>
          <a:ln w="34925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1565C0"/>
                </a:solidFill>
              </a:rPr>
              <a:t>Δ₁₂</a:t>
            </a:r>
          </a:p>
          <a:p>
            <a:pPr algn="ctr">
              <a:spcAft>
                <a:spcPts val="300"/>
              </a:spcAft>
            </a:pPr>
            <a:r>
              <a:rPr sz="1300">
                <a:solidFill>
                  <a:srgbClr val="212121"/>
                </a:solidFill>
              </a:rPr>
              <a:t>2 &lt; len(s)</a:t>
            </a:r>
          </a:p>
          <a:p>
            <a:pPr algn="ctr">
              <a:spcAft>
                <a:spcPts val="300"/>
              </a:spcAft>
            </a:pPr>
            <a:r>
              <a:rPr sz="1300">
                <a:solidFill>
                  <a:srgbClr val="D32F2F"/>
                </a:solidFill>
              </a:rPr>
              <a:t>(s[0], s[1]) ∈ R1⁺</a:t>
            </a:r>
          </a:p>
          <a:p>
            <a:pPr algn="ctr">
              <a:spcAft>
                <a:spcPts val="300"/>
              </a:spcAft>
            </a:pPr>
            <a:r>
              <a:rPr sz="1300">
                <a:solidFill>
                  <a:srgbClr val="1565C0"/>
                </a:solidFill>
              </a:rPr>
              <a:t>(s[1], s[2]) ∈ R2⁺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212121"/>
                </a:solidFill>
              </a:rPr>
              <a:t>Step 6 — SplitCycleLen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100" b="0">
                <a:solidFill>
                  <a:srgbClr val="212121"/>
                </a:solidFill>
              </a:rPr>
              <a:t>    Premise(s):   </a:t>
            </a:r>
            <a:r>
              <a:rPr sz="2100" b="0">
                <a:solidFill>
                  <a:srgbClr val="1212CC"/>
                </a:solidFill>
              </a:rPr>
              <a:t>((R1, R2, R3), s, 3) ∈ C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AAAAAA"/>
                </a:solidFill>
              </a:rPr>
              <a:t>       ‖   </a:t>
            </a:r>
            <a:r>
              <a:rPr sz="2100" b="0">
                <a:solidFill>
                  <a:srgbClr val="AAAAAA"/>
                </a:solidFill>
              </a:rPr>
              <a:t>3 &lt; len(s)</a:t>
            </a:r>
            <a:r>
              <a:rPr sz="1700" b="0">
                <a:solidFill>
                  <a:srgbClr val="AAAAAA"/>
                </a:solidFill>
              </a:rPr>
              <a:t>    (case 1 — omitted)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100" b="0">
                <a:solidFill>
                  <a:srgbClr val="212121"/>
                </a:solidFill>
              </a:rPr>
              <a:t>    ⟹   </a:t>
            </a:r>
            <a:r>
              <a:rPr sz="2100" b="0">
                <a:solidFill>
                  <a:srgbClr val="1212CC"/>
                </a:solidFill>
              </a:rPr>
              <a:t>3 = len(s)</a:t>
            </a:r>
            <a:r>
              <a:rPr sz="1700" b="0">
                <a:solidFill>
                  <a:srgbClr val="212121"/>
                </a:solidFill>
              </a:rPr>
              <a:t>    (case 2 — explored)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80360"/>
            <a:ext cx="109728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212121"/>
                </a:solidFill>
              </a:rPr>
              <a:t>•  All cycle-related rules are now saturated</a:t>
            </a:r>
            <a:r>
              <a:rPr sz="1600" b="0">
                <a:solidFill>
                  <a:srgbClr val="212121"/>
                </a:solidFill>
              </a:rPr>
              <a:t>  — assuming a guard on </a:t>
            </a:r>
            <a:r>
              <a:rPr sz="1600" b="1">
                <a:solidFill>
                  <a:srgbClr val="212121"/>
                </a:solidFill>
              </a:rPr>
              <a:t>SplitCycleLen</a:t>
            </a:r>
            <a:r>
              <a:rPr sz="1600" b="0">
                <a:solidFill>
                  <a:srgbClr val="212121"/>
                </a:solidFill>
              </a:rPr>
              <a:t> that we haven't reached the end of the cycle (no constraint len(s) = n for a constant n in Δ).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212121"/>
                </a:solidFill>
              </a:rPr>
              <a:t>•  We can't apply </a:t>
            </a:r>
            <a:r>
              <a:rPr sz="1600" b="1">
                <a:solidFill>
                  <a:srgbClr val="212121"/>
                </a:solidFill>
              </a:rPr>
              <a:t>UnrollCycle</a:t>
            </a:r>
            <a:r>
              <a:rPr sz="1600" b="0">
                <a:solidFill>
                  <a:srgbClr val="212121"/>
                </a:solidFill>
              </a:rPr>
              <a:t>, whose premise </a:t>
            </a:r>
            <a:r>
              <a:rPr sz="1600" b="0">
                <a:solidFill>
                  <a:srgbClr val="1212CC"/>
                </a:solidFill>
              </a:rPr>
              <a:t>cnt &lt; len(s)</a:t>
            </a:r>
            <a:r>
              <a:rPr sz="1600" b="0">
                <a:solidFill>
                  <a:srgbClr val="212121"/>
                </a:solidFill>
              </a:rPr>
              <a:t> — here </a:t>
            </a:r>
            <a:r>
              <a:rPr sz="1600" b="0">
                <a:solidFill>
                  <a:srgbClr val="1212CC"/>
                </a:solidFill>
              </a:rPr>
              <a:t>3 &lt; len(s)</a:t>
            </a:r>
            <a:r>
              <a:rPr sz="1600" b="0">
                <a:solidFill>
                  <a:srgbClr val="212121"/>
                </a:solidFill>
              </a:rPr>
              <a:t> — is not in Δ, since we have </a:t>
            </a:r>
            <a:r>
              <a:rPr sz="1600" b="0">
                <a:solidFill>
                  <a:srgbClr val="1212CC"/>
                </a:solidFill>
              </a:rPr>
              <a:t>3 = len(s)</a:t>
            </a:r>
            <a:r>
              <a:rPr sz="1600" b="0">
                <a:solidFill>
                  <a:srgbClr val="212121"/>
                </a:solidFill>
              </a:rPr>
              <a:t>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212121"/>
                </a:solidFill>
              </a:rPr>
              <a:t>•  Once we also saturate the original relational-solver rules, we can conclude </a:t>
            </a:r>
            <a:r>
              <a:rPr sz="1600" b="1">
                <a:solidFill>
                  <a:srgbClr val="2E7D32"/>
                </a:solidFill>
              </a:rPr>
              <a:t>sat</a:t>
            </a:r>
            <a:r>
              <a:rPr sz="1600" b="0">
                <a:solidFill>
                  <a:srgbClr val="212121"/>
                </a:solidFill>
              </a:rPr>
              <a:t>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212121"/>
                </a:solidFill>
              </a:rPr>
              <a:t>•  Congruence-closure reasoning concludes </a:t>
            </a:r>
            <a:r>
              <a:rPr sz="1600" b="1">
                <a:solidFill>
                  <a:srgbClr val="212121"/>
                </a:solidFill>
              </a:rPr>
              <a:t>s[0] = a, s[1] = b, s[2] = a</a:t>
            </a:r>
            <a:r>
              <a:rPr sz="1600" b="0">
                <a:solidFill>
                  <a:srgbClr val="212121"/>
                </a:solidFill>
              </a:rPr>
              <a:t>, which gives our model of 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94560" y="5623560"/>
            <a:ext cx="7772400" cy="7772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2E7D32"/>
                </a:solidFill>
              </a:rPr>
              <a:t>Model:  </a:t>
            </a:r>
            <a:r>
              <a:rPr sz="2200">
                <a:solidFill>
                  <a:srgbClr val="212121"/>
                </a:solidFill>
              </a:rPr>
              <a:t>s[0] = a,  s[1] = b,  s[2] = 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12121"/>
                </a:solidFill>
              </a:rPr>
              <a:t>Example 2: unsat instance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600" b="1">
                <a:solidFill>
                  <a:srgbClr val="212121"/>
                </a:solidFill>
              </a:rPr>
              <a:t>∀x : Int.  ¬ ( (x, x) ∈ R⁺ )</a:t>
            </a:r>
          </a:p>
          <a:p>
            <a:r>
              <a:rPr sz="2600" b="1">
                <a:solidFill>
                  <a:srgbClr val="212121"/>
                </a:solidFill>
              </a:rPr>
              <a:t>¬ acyclic(R)</a:t>
            </a:r>
          </a:p>
          <a:p>
            <a:pPr>
              <a:spcBef>
                <a:spcPts val="800"/>
              </a:spcBef>
            </a:pPr>
            <a:r>
              <a:rPr sz="1600" i="1">
                <a:solidFill>
                  <a:srgbClr val="AAAAAA"/>
                </a:solidFill>
              </a:rPr>
              <a:t>i.e., R has a cycle, but R⁺ has no self-loop</a:t>
            </a:r>
          </a:p>
        </p:txBody>
      </p:sp>
      <p:sp>
        <p:nvSpPr>
          <p:cNvPr id="4" name="Oval 3"/>
          <p:cNvSpPr/>
          <p:nvPr/>
        </p:nvSpPr>
        <p:spPr>
          <a:xfrm>
            <a:off x="8915400" y="155448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12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176386" y="247064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12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94732" y="3953019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12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136067" y="3953019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12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654413" y="247064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12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9341076" y="1926264"/>
            <a:ext cx="866834" cy="629792"/>
          </a:xfrm>
          <a:prstGeom prst="line">
            <a:avLst/>
          </a:prstGeom>
          <a:ln w="25400">
            <a:solidFill>
              <a:srgbClr val="21212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9998608" y="2930917"/>
            <a:ext cx="331102" cy="1019025"/>
          </a:xfrm>
          <a:prstGeom prst="line">
            <a:avLst/>
          </a:prstGeom>
          <a:ln w="25400">
            <a:solidFill>
              <a:srgbClr val="21212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8608267" y="4181619"/>
            <a:ext cx="1071465" cy="0"/>
          </a:xfrm>
          <a:prstGeom prst="line">
            <a:avLst/>
          </a:prstGeom>
          <a:ln w="25400">
            <a:solidFill>
              <a:srgbClr val="21212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7958289" y="2930917"/>
            <a:ext cx="331102" cy="1019025"/>
          </a:xfrm>
          <a:prstGeom prst="line">
            <a:avLst/>
          </a:prstGeom>
          <a:ln w="25400">
            <a:solidFill>
              <a:srgbClr val="21212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8080089" y="1926264"/>
            <a:ext cx="866835" cy="629792"/>
          </a:xfrm>
          <a:prstGeom prst="line">
            <a:avLst/>
          </a:prstGeom>
          <a:ln w="25400">
            <a:solidFill>
              <a:srgbClr val="21212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72400" y="46177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i="1">
                <a:solidFill>
                  <a:srgbClr val="AAAAAA"/>
                </a:solidFill>
              </a:rPr>
              <a:t>a cycle in R</a:t>
            </a:r>
          </a:p>
        </p:txBody>
      </p:sp>
      <p:sp>
        <p:nvSpPr>
          <p:cNvPr id="15" name="Oval 14"/>
          <p:cNvSpPr/>
          <p:nvPr/>
        </p:nvSpPr>
        <p:spPr>
          <a:xfrm>
            <a:off x="2308860" y="496062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12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212121"/>
                </a:solidFill>
              </a:rPr>
              <a:t>x</a:t>
            </a:r>
          </a:p>
        </p:txBody>
      </p:sp>
      <p:sp>
        <p:nvSpPr>
          <p:cNvPr id="16" name="Oval 15"/>
          <p:cNvSpPr/>
          <p:nvPr/>
        </p:nvSpPr>
        <p:spPr>
          <a:xfrm>
            <a:off x="2194560" y="4160520"/>
            <a:ext cx="731520" cy="868680"/>
          </a:xfrm>
          <a:prstGeom prst="ellipse">
            <a:avLst/>
          </a:prstGeom>
          <a:noFill/>
          <a:ln w="25400">
            <a:solidFill>
              <a:srgbClr val="1212C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63240" y="411480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212CC"/>
                </a:solidFill>
              </a:rPr>
              <a:t>R⁺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4754880"/>
            <a:ext cx="914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D32F2F"/>
                </a:solidFill>
              </a:rPr>
              <a:t>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598932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i="1">
                <a:solidFill>
                  <a:srgbClr val="AAAAAA"/>
                </a:solidFill>
              </a:rPr>
              <a:t>no self-loop (x, x) exists in R⁺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12121"/>
                </a:solidFill>
              </a:rPr>
              <a:t>Example 2: derivation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64008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900" b="1">
                <a:solidFill>
                  <a:srgbClr val="212121"/>
                </a:solidFill>
              </a:rPr>
              <a:t>Step 1 — InstCycle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</a:rPr>
              <a:t>   Premise(s):  </a:t>
            </a:r>
            <a:r>
              <a:rPr sz="1500" b="0">
                <a:solidFill>
                  <a:srgbClr val="1212CC"/>
                </a:solidFill>
              </a:rPr>
              <a:t>¬acyclic(R)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</a:rPr>
              <a:t>   ⟹  </a:t>
            </a:r>
            <a:r>
              <a:rPr sz="1500" b="0">
                <a:solidFill>
                  <a:srgbClr val="1212CC"/>
                </a:solidFill>
              </a:rPr>
              <a:t>C = {((R), s, 1)},   Δ = {len(s) &gt; 1, minimal((R), s)}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900" b="1">
                <a:solidFill>
                  <a:srgbClr val="212121"/>
                </a:solidFill>
              </a:rPr>
              <a:t>Step 2 — SplitCycleLen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</a:rPr>
              <a:t>   Premise(s):  </a:t>
            </a:r>
            <a:r>
              <a:rPr sz="1500" b="0">
                <a:solidFill>
                  <a:srgbClr val="1212CC"/>
                </a:solidFill>
              </a:rPr>
              <a:t>((R), s, 1) ∈ C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</a:rPr>
              <a:t>   ⟹  </a:t>
            </a:r>
            <a:r>
              <a:rPr sz="1500" b="0">
                <a:solidFill>
                  <a:srgbClr val="1212CC"/>
                </a:solidFill>
              </a:rPr>
              <a:t>1 &lt; len(s)</a:t>
            </a:r>
            <a:r>
              <a:rPr sz="1500" b="1">
                <a:solidFill>
                  <a:srgbClr val="212121"/>
                </a:solidFill>
              </a:rPr>
              <a:t>  ‖  </a:t>
            </a:r>
            <a:r>
              <a:rPr sz="1500" b="0">
                <a:solidFill>
                  <a:srgbClr val="1212CC"/>
                </a:solidFill>
              </a:rPr>
              <a:t>1 = len(s)</a:t>
            </a:r>
            <a:r>
              <a:rPr sz="1200" b="0">
                <a:solidFill>
                  <a:srgbClr val="AAAAAA"/>
                </a:solidFill>
              </a:rPr>
              <a:t>   (case 1)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900" b="1">
                <a:solidFill>
                  <a:srgbClr val="212121"/>
                </a:solidFill>
              </a:rPr>
              <a:t>Step 3 — UnrollCycle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</a:rPr>
              <a:t>   Premise(s):  </a:t>
            </a:r>
            <a:r>
              <a:rPr sz="1500" b="0">
                <a:solidFill>
                  <a:srgbClr val="1212CC"/>
                </a:solidFill>
              </a:rPr>
              <a:t>((R), s, 1) ∈ C</a:t>
            </a:r>
            <a:r>
              <a:rPr sz="1500" b="0">
                <a:solidFill>
                  <a:srgbClr val="212121"/>
                </a:solidFill>
              </a:rPr>
              <a:t>  and  </a:t>
            </a:r>
            <a:r>
              <a:rPr sz="1500" b="0">
                <a:solidFill>
                  <a:srgbClr val="1212CC"/>
                </a:solidFill>
              </a:rPr>
              <a:t>1 &lt; len(s)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</a:rPr>
              <a:t>   ⟹  </a:t>
            </a:r>
            <a:r>
              <a:rPr sz="1500" b="0">
                <a:solidFill>
                  <a:srgbClr val="1212CC"/>
                </a:solidFill>
              </a:rPr>
              <a:t>(s[0], s[1]) ∈ R⁺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49440" y="868680"/>
            <a:ext cx="4480560" cy="54864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212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12121"/>
                </a:solidFill>
              </a:rPr>
              <a:t>Δ₀ = </a:t>
            </a:r>
            <a:r>
              <a:rPr sz="1800">
                <a:solidFill>
                  <a:srgbClr val="212121"/>
                </a:solidFill>
              </a:rPr>
              <a:t>{len(s) &gt; 1, minimal(s)}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49440" y="1828800"/>
            <a:ext cx="4480560" cy="54864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212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12121"/>
                </a:solidFill>
              </a:rPr>
              <a:t>Δ₀′ = </a:t>
            </a:r>
            <a:r>
              <a:rPr sz="1800">
                <a:solidFill>
                  <a:srgbClr val="212121"/>
                </a:solidFill>
              </a:rPr>
              <a:t>{len(s) &gt; 1, minimal(s)}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2880360"/>
            <a:ext cx="4754880" cy="54864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212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12121"/>
                </a:solidFill>
              </a:rPr>
              <a:t>Δ₁ = </a:t>
            </a:r>
            <a:r>
              <a:rPr sz="1800">
                <a:solidFill>
                  <a:srgbClr val="212121"/>
                </a:solidFill>
              </a:rPr>
              <a:t>{1 &lt; len(s), (s[0], s[1]) ∈ R⁺}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947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212121"/>
                </a:solidFill>
              </a:rPr>
              <a:t>Step 4 — SplitCycleLen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212121"/>
                </a:solidFill>
              </a:rPr>
              <a:t>   Premise(s):  </a:t>
            </a:r>
            <a:r>
              <a:rPr sz="1600" b="0">
                <a:solidFill>
                  <a:srgbClr val="1212CC"/>
                </a:solidFill>
              </a:rPr>
              <a:t>((R), s, 2) ∈ C</a:t>
            </a:r>
            <a:r>
              <a:rPr sz="1600" b="0">
                <a:solidFill>
                  <a:srgbClr val="212121"/>
                </a:solidFill>
              </a:rPr>
              <a:t>       ⟹   explore both cases: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99048" y="4754880"/>
            <a:ext cx="0" cy="1874520"/>
          </a:xfrm>
          <a:prstGeom prst="line">
            <a:avLst/>
          </a:prstGeom>
          <a:ln w="12700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4800600"/>
            <a:ext cx="5394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212121"/>
                </a:solidFill>
              </a:rPr>
              <a:t>Case  </a:t>
            </a:r>
            <a:r>
              <a:rPr sz="1700" b="1">
                <a:solidFill>
                  <a:srgbClr val="1565C0"/>
                </a:solidFill>
              </a:rPr>
              <a:t>2 &lt; len(s)</a:t>
            </a:r>
            <a:r>
              <a:rPr sz="1700" b="1">
                <a:solidFill>
                  <a:srgbClr val="212121"/>
                </a:solidFill>
              </a:rPr>
              <a:t> :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212CC"/>
                </a:solidFill>
              </a:rPr>
              <a:t>Δ = Δ ∪ {2 &lt; len(s)}</a:t>
            </a:r>
          </a:p>
          <a:p>
            <a:pPr>
              <a:spcBef>
                <a:spcPts val="300"/>
              </a:spcBef>
              <a:spcAft>
                <a:spcPts val="400"/>
              </a:spcAft>
            </a:pPr>
            <a:r>
              <a:rPr sz="1500" b="0">
                <a:solidFill>
                  <a:srgbClr val="AAAAAA"/>
                </a:solidFill>
              </a:rPr>
              <a:t>continue: Steps 5–7  →  (next slide)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4800600"/>
            <a:ext cx="5532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212121"/>
                </a:solidFill>
              </a:rPr>
              <a:t>Case  </a:t>
            </a:r>
            <a:r>
              <a:rPr sz="1700" b="1">
                <a:solidFill>
                  <a:srgbClr val="1565C0"/>
                </a:solidFill>
              </a:rPr>
              <a:t>2 = len(s)</a:t>
            </a:r>
            <a:r>
              <a:rPr sz="1700" b="1">
                <a:solidFill>
                  <a:srgbClr val="212121"/>
                </a:solidFill>
              </a:rPr>
              <a:t> :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212CC"/>
                </a:solidFill>
              </a:rPr>
              <a:t>Δ = Δ ∪ {2 = len(s), s[0] = s[1]}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12121"/>
                </a:solidFill>
              </a:rPr>
              <a:t>       </a:t>
            </a:r>
            <a:r>
              <a:rPr sz="1300" b="0">
                <a:solidFill>
                  <a:srgbClr val="AAAAAA"/>
                </a:solidFill>
              </a:rPr>
              <a:t>(s[0] = s[1] by definition of minimal)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212121"/>
                </a:solidFill>
              </a:rPr>
              <a:t>⟹  </a:t>
            </a:r>
            <a:r>
              <a:rPr sz="1600" b="0">
                <a:solidFill>
                  <a:srgbClr val="1212CC"/>
                </a:solidFill>
              </a:rPr>
              <a:t>(s[0], s[0]) ∈ R⁺</a:t>
            </a:r>
            <a:r>
              <a:rPr sz="1400" b="0">
                <a:solidFill>
                  <a:srgbClr val="212121"/>
                </a:solidFill>
              </a:rPr>
              <a:t>   contradicts  ∀x. ¬((x,x) ∈ R⁺)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700" b="1">
                <a:solidFill>
                  <a:srgbClr val="D32F2F"/>
                </a:solidFill>
              </a:rPr>
              <a:t>⟹  UNSAT — close this case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12121"/>
                </a:solidFill>
              </a:rPr>
              <a:t>Example 2: case  2 &lt; len(s)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i="1">
                <a:solidFill>
                  <a:srgbClr val="AAAAAA"/>
                </a:solidFill>
              </a:rPr>
              <a:t>From Step 4 (case 2 &lt; len(s)):  Δ ⊇ {2 &lt; len(s), (s[0], s[1]) ∈ R⁺}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212121"/>
                </a:solidFill>
              </a:rPr>
              <a:t>Step 5 — UnrollCycle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212121"/>
                </a:solidFill>
              </a:rPr>
              <a:t>    Premise(s):   </a:t>
            </a:r>
            <a:r>
              <a:rPr sz="2000" b="0">
                <a:solidFill>
                  <a:srgbClr val="1212CC"/>
                </a:solidFill>
              </a:rPr>
              <a:t>((R), s, 2) ∈ C</a:t>
            </a:r>
            <a:r>
              <a:rPr sz="2000" b="0">
                <a:solidFill>
                  <a:srgbClr val="212121"/>
                </a:solidFill>
              </a:rPr>
              <a:t>   and   </a:t>
            </a:r>
            <a:r>
              <a:rPr sz="2000" b="0">
                <a:solidFill>
                  <a:srgbClr val="1212CC"/>
                </a:solidFill>
              </a:rPr>
              <a:t>2 &lt; len(s)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212121"/>
                </a:solidFill>
              </a:rPr>
              <a:t>    ⟹   </a:t>
            </a:r>
            <a:r>
              <a:rPr sz="2000" b="0">
                <a:solidFill>
                  <a:srgbClr val="1212CC"/>
                </a:solidFill>
              </a:rPr>
              <a:t>Δ = Δ ∪ {(s[1], s[2]) ∈ R⁺}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2400" b="1">
                <a:solidFill>
                  <a:srgbClr val="212121"/>
                </a:solidFill>
              </a:rPr>
              <a:t>Step 6 — JoinUp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212121"/>
                </a:solidFill>
              </a:rPr>
              <a:t>    Premise(s):   </a:t>
            </a:r>
            <a:r>
              <a:rPr sz="2000" b="0">
                <a:solidFill>
                  <a:srgbClr val="1212CC"/>
                </a:solidFill>
              </a:rPr>
              <a:t>(s[0], s[1]) ∈ R⁺</a:t>
            </a:r>
            <a:r>
              <a:rPr sz="2000" b="0">
                <a:solidFill>
                  <a:srgbClr val="212121"/>
                </a:solidFill>
              </a:rPr>
              <a:t>   and   </a:t>
            </a:r>
            <a:r>
              <a:rPr sz="2000" b="0">
                <a:solidFill>
                  <a:srgbClr val="1212CC"/>
                </a:solidFill>
              </a:rPr>
              <a:t>(s[1], s[2]) ∈ R⁺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212121"/>
                </a:solidFill>
              </a:rPr>
              <a:t>    ⟹   </a:t>
            </a:r>
            <a:r>
              <a:rPr sz="2000" b="0">
                <a:solidFill>
                  <a:srgbClr val="1212CC"/>
                </a:solidFill>
              </a:rPr>
              <a:t>Δ = Δ ∪ {(s[0], s[2]) ∈ R⁺}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2400" b="1">
                <a:solidFill>
                  <a:srgbClr val="212121"/>
                </a:solidFill>
              </a:rPr>
              <a:t>Step 7 — ContrMinimal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212121"/>
                </a:solidFill>
              </a:rPr>
              <a:t>    Premise(s):   </a:t>
            </a:r>
            <a:r>
              <a:rPr sz="2000" b="0">
                <a:solidFill>
                  <a:srgbClr val="1212CC"/>
                </a:solidFill>
              </a:rPr>
              <a:t>((R), s, 3) ∈ C,   0 ≤ 0 &lt; 2 &lt; 3,   (s[0], s[2]) ∈ R⁺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212121"/>
                </a:solidFill>
              </a:rPr>
              <a:t>    ⟹   </a:t>
            </a:r>
            <a:r>
              <a:rPr sz="2000" b="1">
                <a:solidFill>
                  <a:srgbClr val="D32F2F"/>
                </a:solidFill>
              </a:rPr>
              <a:t>UNSAT — close this case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0" y="5760720"/>
            <a:ext cx="8138160" cy="7772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D3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D32F2F"/>
                </a:solidFill>
              </a:rPr>
              <a:t>Both cases of Step 4 close  ⟹  Example 2 is unsat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12121"/>
                </a:solidFill>
              </a:rPr>
              <a:t>Example 3: SC litmus test  (§4.3.1)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i="1">
                <a:solidFill>
                  <a:srgbClr val="AAAAAA"/>
                </a:solidFill>
              </a:rPr>
              <a:t>Do the one-thread SC litmus-test templates forbid every MCM-violating execution?   →   expect unsat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565C0"/>
                </a:solidFill>
              </a:rPr>
              <a:t>po</a:t>
            </a:r>
            <a:r>
              <a:rPr sz="1500" b="0">
                <a:solidFill>
                  <a:srgbClr val="212121"/>
                </a:solidFill>
              </a:rPr>
              <a:t> program order      </a:t>
            </a:r>
            <a:r>
              <a:rPr sz="1500" b="1">
                <a:solidFill>
                  <a:srgbClr val="2E7D32"/>
                </a:solidFill>
              </a:rPr>
              <a:t>rf</a:t>
            </a:r>
            <a:r>
              <a:rPr sz="1500" b="0">
                <a:solidFill>
                  <a:srgbClr val="212121"/>
                </a:solidFill>
              </a:rPr>
              <a:t> reads-from      </a:t>
            </a:r>
            <a:r>
              <a:rPr sz="1500" b="1">
                <a:solidFill>
                  <a:srgbClr val="E65100"/>
                </a:solidFill>
              </a:rPr>
              <a:t>fr</a:t>
            </a:r>
            <a:r>
              <a:rPr sz="1500" b="0">
                <a:solidFill>
                  <a:srgbClr val="212121"/>
                </a:solidFill>
              </a:rPr>
              <a:t> from-reads      </a:t>
            </a:r>
            <a:r>
              <a:rPr sz="1500" b="1">
                <a:solidFill>
                  <a:srgbClr val="6A1B9A"/>
                </a:solidFill>
              </a:rPr>
              <a:t>mo</a:t>
            </a:r>
            <a:r>
              <a:rPr sz="1500" b="0">
                <a:solidFill>
                  <a:srgbClr val="212121"/>
                </a:solidFill>
              </a:rPr>
              <a:t> modification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212121"/>
                </a:solidFill>
              </a:rPr>
              <a:t>Litmus-test templates (irreflexive):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212CC"/>
                </a:solidFill>
              </a:rPr>
              <a:t>    irreflexive(po⁺),  irreflexive(rf),  irreflexive(fr),  irreflexive(mo)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212CC"/>
                </a:solidFill>
              </a:rPr>
              <a:t>    irreflexive(po⁺ ⋈ rf),  irreflexive(po⁺ ⋈ fr),  irreflexive(po⁺ ⋈ mo)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800" b="1">
                <a:solidFill>
                  <a:srgbClr val="212121"/>
                </a:solidFill>
              </a:rPr>
              <a:t>Single thread: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212CC"/>
                </a:solidFill>
              </a:rPr>
              <a:t>    is_singleton(Thread)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212CC"/>
                </a:solidFill>
              </a:rPr>
              <a:t>    thread(x) = thread(y)  ⟺  x = y  ∨  (x,y) ∈ po⁺  ∨  (y,x) ∈ po⁺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800" b="1">
                <a:solidFill>
                  <a:srgbClr val="212121"/>
                </a:solidFill>
              </a:rPr>
              <a:t>Identity:</a:t>
            </a:r>
            <a:r>
              <a:rPr sz="1900" b="0">
                <a:solidFill>
                  <a:srgbClr val="1212CC"/>
                </a:solidFill>
              </a:rPr>
              <a:t>   ∀a. (a, a) ∈ iden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800" b="1">
                <a:solidFill>
                  <a:srgbClr val="212121"/>
                </a:solidFill>
              </a:rPr>
              <a:t>Goal:</a:t>
            </a:r>
            <a:r>
              <a:rPr sz="1900" b="0">
                <a:solidFill>
                  <a:srgbClr val="1212CC"/>
                </a:solidFill>
              </a:rPr>
              <a:t>   ¬ acyclic(po ∪ rf ∪ fr ∪ mo)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12121"/>
                </a:solidFill>
              </a:rPr>
              <a:t>Example 3: derivation — setup &amp; first unroll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11556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12121"/>
                </a:solidFill>
              </a:rPr>
              <a:t>Step 1 — Saturate  (ElimTClos)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212121"/>
                </a:solidFill>
              </a:rPr>
              <a:t>    ⟹  </a:t>
            </a:r>
            <a:r>
              <a:rPr sz="1700" b="0">
                <a:solidFill>
                  <a:srgbClr val="1212CC"/>
                </a:solidFill>
              </a:rPr>
              <a:t>rf⁺ ≈ rf,   fr⁺ ≈ fr</a:t>
            </a:r>
            <a:r>
              <a:rPr sz="1400" b="0">
                <a:solidFill>
                  <a:srgbClr val="AAAAAA"/>
                </a:solidFill>
              </a:rPr>
              <a:t>    (rf, fr relate disjoint sets)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900" b="1">
                <a:solidFill>
                  <a:srgbClr val="AAAAAA"/>
                </a:solidFill>
              </a:rPr>
              <a:t>Step 2 — skipped</a:t>
            </a:r>
            <a:r>
              <a:rPr sz="1400" b="0">
                <a:solidFill>
                  <a:srgbClr val="AAAAAA"/>
                </a:solidFill>
              </a:rPr>
              <a:t>  (no new constants yet)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2100" b="1">
                <a:solidFill>
                  <a:srgbClr val="212121"/>
                </a:solidFill>
              </a:rPr>
              <a:t>Step 3 — InstCycle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212121"/>
                </a:solidFill>
              </a:rPr>
              <a:t>    Premise(s):  </a:t>
            </a:r>
            <a:r>
              <a:rPr sz="1700" b="0">
                <a:solidFill>
                  <a:srgbClr val="1212CC"/>
                </a:solidFill>
              </a:rPr>
              <a:t>¬acyclic(po ∪ rf ∪ fr ∪ mo)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212121"/>
                </a:solidFill>
              </a:rPr>
              <a:t>    ⟹  </a:t>
            </a:r>
            <a:r>
              <a:rPr sz="1700" b="0">
                <a:solidFill>
                  <a:srgbClr val="1212CC"/>
                </a:solidFill>
              </a:rPr>
              <a:t>C ∪= ((po, rf, fr, mo), s, 1);   Δ ∪= {len(s) &gt; 1, minimal((po, rf, fr, mo), s)}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2100" b="1">
                <a:solidFill>
                  <a:srgbClr val="212121"/>
                </a:solidFill>
              </a:rPr>
              <a:t>Step 3 — SplitCycleLen  (cnt = 1)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AAAAAA"/>
                </a:solidFill>
              </a:rPr>
              <a:t>    1 ≈ len(s) :  </a:t>
            </a:r>
            <a:r>
              <a:rPr sz="1700" b="0">
                <a:solidFill>
                  <a:srgbClr val="AAAAAA"/>
                </a:solidFill>
              </a:rPr>
              <a:t>unsat — conflicts len(s) &gt; 1   (close)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212121"/>
                </a:solidFill>
              </a:rPr>
              <a:t>    1 &lt; len(s) :  </a:t>
            </a:r>
            <a:r>
              <a:rPr sz="1700" b="0">
                <a:solidFill>
                  <a:srgbClr val="1212CC"/>
                </a:solidFill>
              </a:rPr>
              <a:t>continue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2100" b="1">
                <a:solidFill>
                  <a:srgbClr val="212121"/>
                </a:solidFill>
              </a:rPr>
              <a:t>Step 3 — UnrollCycle  (cnt = 1)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212121"/>
                </a:solidFill>
              </a:rPr>
              <a:t>    ⟹  (s[1], s[2]) ∈  </a:t>
            </a:r>
            <a:r>
              <a:rPr sz="1700" b="1">
                <a:solidFill>
                  <a:srgbClr val="1565C0"/>
                </a:solidFill>
              </a:rPr>
              <a:t>po⁺</a:t>
            </a:r>
            <a:r>
              <a:rPr sz="1700" b="1">
                <a:solidFill>
                  <a:srgbClr val="212121"/>
                </a:solidFill>
              </a:rPr>
              <a:t>  ‖  </a:t>
            </a:r>
            <a:r>
              <a:rPr sz="1700" b="1">
                <a:solidFill>
                  <a:srgbClr val="2E7D32"/>
                </a:solidFill>
              </a:rPr>
              <a:t>rf⁺</a:t>
            </a:r>
            <a:r>
              <a:rPr sz="1700" b="1">
                <a:solidFill>
                  <a:srgbClr val="212121"/>
                </a:solidFill>
              </a:rPr>
              <a:t>  ‖  </a:t>
            </a:r>
            <a:r>
              <a:rPr sz="1700" b="1">
                <a:solidFill>
                  <a:srgbClr val="E65100"/>
                </a:solidFill>
              </a:rPr>
              <a:t>fr⁺</a:t>
            </a:r>
            <a:r>
              <a:rPr sz="1700" b="1">
                <a:solidFill>
                  <a:srgbClr val="212121"/>
                </a:solidFill>
              </a:rPr>
              <a:t>  ‖  </a:t>
            </a:r>
            <a:r>
              <a:rPr sz="1700" b="1">
                <a:solidFill>
                  <a:srgbClr val="6A1B9A"/>
                </a:solidFill>
              </a:rPr>
              <a:t>mo⁺</a:t>
            </a:r>
            <a:r>
              <a:rPr sz="1400" b="0">
                <a:solidFill>
                  <a:srgbClr val="AAAAAA"/>
                </a:solidFill>
              </a:rPr>
              <a:t>     (4 cases; explore </a:t>
            </a:r>
            <a:r>
              <a:rPr sz="1400" b="1">
                <a:solidFill>
                  <a:srgbClr val="1565C0"/>
                </a:solidFill>
              </a:rPr>
              <a:t>po⁺</a:t>
            </a:r>
            <a:r>
              <a:rPr sz="1400" b="0">
                <a:solidFill>
                  <a:srgbClr val="AAAAAA"/>
                </a:solidFill>
              </a:rPr>
              <a:t>, others similar)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12121"/>
                </a:solidFill>
              </a:rPr>
              <a:t>Example 3: case  (s[1], s[2]) ∈ po⁺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12121"/>
                </a:solidFill>
              </a:rPr>
              <a:t>Step — SplitCycleLen  (cnt = 2)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212121"/>
                </a:solidFill>
              </a:rPr>
              <a:t>    Premise(s):  </a:t>
            </a:r>
            <a:r>
              <a:rPr sz="1600" b="0">
                <a:solidFill>
                  <a:srgbClr val="1212CC"/>
                </a:solidFill>
              </a:rPr>
              <a:t>((po, rf, fr, mo), s, 2) ∈ C</a:t>
            </a:r>
            <a:r>
              <a:rPr sz="1600" b="0">
                <a:solidFill>
                  <a:srgbClr val="212121"/>
                </a:solidFill>
              </a:rPr>
              <a:t>       ⟹   explore both cases: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99048" y="1874519"/>
            <a:ext cx="0" cy="4754881"/>
          </a:xfrm>
          <a:prstGeom prst="line">
            <a:avLst/>
          </a:prstGeom>
          <a:ln w="12700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920240"/>
            <a:ext cx="5440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800" b="1">
                <a:solidFill>
                  <a:srgbClr val="212121"/>
                </a:solidFill>
              </a:rPr>
              <a:t>Case  </a:t>
            </a:r>
            <a:r>
              <a:rPr sz="1800" b="1">
                <a:solidFill>
                  <a:srgbClr val="1565C0"/>
                </a:solidFill>
              </a:rPr>
              <a:t>2 ≈ len(s)</a:t>
            </a:r>
            <a:r>
              <a:rPr sz="1800" b="1">
                <a:solidFill>
                  <a:srgbClr val="212121"/>
                </a:solidFill>
              </a:rPr>
              <a:t> :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212CC"/>
                </a:solidFill>
              </a:rPr>
              <a:t>s[1] = s[2]   </a:t>
            </a:r>
            <a:r>
              <a:rPr sz="1300" b="0">
                <a:solidFill>
                  <a:srgbClr val="AAAAAA"/>
                </a:solidFill>
              </a:rPr>
              <a:t>(by minimal)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212CC"/>
                </a:solidFill>
              </a:rPr>
              <a:t>⟹  (s[1], s[1]) ∈ po⁺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</a:rPr>
              <a:t>step 2: instantiate iden at s[1]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212CC"/>
                </a:solidFill>
              </a:rPr>
              <a:t>⟹  (s[1], s[1]) ∈ iden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 b="0">
                <a:solidFill>
                  <a:srgbClr val="1212CC"/>
                </a:solidFill>
              </a:rPr>
              <a:t>irreflexive(po⁺):  po⁺ ⊓ iden ≈ ∅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700" b="1">
                <a:solidFill>
                  <a:srgbClr val="D32F2F"/>
                </a:solidFill>
              </a:rPr>
              <a:t>⟹  UNSAT — close this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5080" y="19202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800" b="1">
                <a:solidFill>
                  <a:srgbClr val="212121"/>
                </a:solidFill>
              </a:rPr>
              <a:t>Case  </a:t>
            </a:r>
            <a:r>
              <a:rPr sz="1800" b="1">
                <a:solidFill>
                  <a:srgbClr val="1565C0"/>
                </a:solidFill>
              </a:rPr>
              <a:t>2 &lt; len(s)</a:t>
            </a:r>
            <a:r>
              <a:rPr sz="1800" b="1">
                <a:solidFill>
                  <a:srgbClr val="212121"/>
                </a:solidFill>
              </a:rPr>
              <a:t> :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212121"/>
                </a:solidFill>
              </a:rPr>
              <a:t>continue  ⟹  UnrollCycle  (cnt = 2)</a:t>
            </a:r>
          </a:p>
          <a:p>
            <a:pPr>
              <a:spcBef>
                <a:spcPts val="300"/>
              </a:spcBef>
              <a:spcAft>
                <a:spcPts val="400"/>
              </a:spcAft>
            </a:pPr>
            <a:r>
              <a:rPr sz="1600" b="0">
                <a:solidFill>
                  <a:srgbClr val="212121"/>
                </a:solidFill>
              </a:rPr>
              <a:t>(s[2], s[3]) ∈  </a:t>
            </a:r>
            <a:r>
              <a:rPr sz="1600" b="1">
                <a:solidFill>
                  <a:srgbClr val="1565C0"/>
                </a:solidFill>
              </a:rPr>
              <a:t>po⁺</a:t>
            </a:r>
            <a:r>
              <a:rPr sz="1600" b="1">
                <a:solidFill>
                  <a:srgbClr val="212121"/>
                </a:solidFill>
              </a:rPr>
              <a:t> ‖ </a:t>
            </a:r>
            <a:r>
              <a:rPr sz="1600" b="1">
                <a:solidFill>
                  <a:srgbClr val="2E7D32"/>
                </a:solidFill>
              </a:rPr>
              <a:t>rf⁺</a:t>
            </a:r>
            <a:r>
              <a:rPr sz="1600" b="1">
                <a:solidFill>
                  <a:srgbClr val="212121"/>
                </a:solidFill>
              </a:rPr>
              <a:t> ‖ </a:t>
            </a:r>
            <a:r>
              <a:rPr sz="1600" b="1">
                <a:solidFill>
                  <a:srgbClr val="E65100"/>
                </a:solidFill>
              </a:rPr>
              <a:t>fr⁺</a:t>
            </a:r>
            <a:r>
              <a:rPr sz="1600" b="1">
                <a:solidFill>
                  <a:srgbClr val="212121"/>
                </a:solidFill>
              </a:rPr>
              <a:t> ‖ </a:t>
            </a:r>
            <a:r>
              <a:rPr sz="1600" b="1">
                <a:solidFill>
                  <a:srgbClr val="6A1B9A"/>
                </a:solidFill>
              </a:rPr>
              <a:t>mo⁺</a:t>
            </a:r>
          </a:p>
          <a:p>
            <a:pPr>
              <a:spcBef>
                <a:spcPts val="300"/>
              </a:spcBef>
              <a:spcAft>
                <a:spcPts val="400"/>
              </a:spcAft>
            </a:pPr>
            <a:r>
              <a:rPr sz="1500" b="0">
                <a:solidFill>
                  <a:srgbClr val="AAAAAA"/>
                </a:solidFill>
              </a:rPr>
              <a:t>explore  </a:t>
            </a:r>
            <a:r>
              <a:rPr sz="1500" b="1">
                <a:solidFill>
                  <a:srgbClr val="2E7D32"/>
                </a:solidFill>
              </a:rPr>
              <a:t>(s[2], s[3]) ∈ rf⁺</a:t>
            </a:r>
            <a:r>
              <a:rPr sz="1500" b="0">
                <a:solidFill>
                  <a:srgbClr val="AAAAAA"/>
                </a:solidFill>
              </a:rPr>
              <a:t>  (others similar)</a:t>
            </a:r>
          </a:p>
          <a:p>
            <a:pPr>
              <a:spcBef>
                <a:spcPts val="300"/>
              </a:spcBef>
              <a:spcAft>
                <a:spcPts val="400"/>
              </a:spcAft>
            </a:pPr>
            <a:r>
              <a:rPr sz="1500" b="0">
                <a:solidFill>
                  <a:srgbClr val="AAAAAA"/>
                </a:solidFill>
              </a:rPr>
              <a:t>→  next slide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12121"/>
                </a:solidFill>
              </a:rPr>
              <a:t>Example 3: case  (s[2], s[3]) ∈ rf⁺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0" y="914400"/>
            <a:ext cx="3474720" cy="1828800"/>
          </a:xfrm>
          <a:prstGeom prst="roundRect">
            <a:avLst/>
          </a:prstGeom>
          <a:solidFill>
            <a:srgbClr val="FFFFFF"/>
          </a:solidFill>
          <a:ln w="34925">
            <a:solidFill>
              <a:srgbClr val="212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212121"/>
                </a:solidFill>
              </a:rPr>
              <a:t>Δ</a:t>
            </a:r>
          </a:p>
          <a:p>
            <a:pPr algn="ctr">
              <a:spcAft>
                <a:spcPts val="300"/>
              </a:spcAft>
            </a:pPr>
            <a:r>
              <a:rPr sz="1300">
                <a:solidFill>
                  <a:srgbClr val="2E7D32"/>
                </a:solidFill>
              </a:rPr>
              <a:t>rf⁺ ≈ rf</a:t>
            </a:r>
          </a:p>
          <a:p>
            <a:pPr algn="ctr">
              <a:spcAft>
                <a:spcPts val="300"/>
              </a:spcAft>
            </a:pPr>
            <a:r>
              <a:rPr sz="1300">
                <a:solidFill>
                  <a:srgbClr val="212121"/>
                </a:solidFill>
              </a:rPr>
              <a:t>2 &lt; len(s)</a:t>
            </a:r>
          </a:p>
          <a:p>
            <a:pPr algn="ctr">
              <a:spcAft>
                <a:spcPts val="300"/>
              </a:spcAft>
            </a:pPr>
            <a:r>
              <a:rPr sz="1300">
                <a:solidFill>
                  <a:srgbClr val="1565C0"/>
                </a:solidFill>
              </a:rPr>
              <a:t>(s[1], s[2]) ∈ po⁺</a:t>
            </a:r>
          </a:p>
          <a:p>
            <a:pPr algn="ctr">
              <a:spcAft>
                <a:spcPts val="300"/>
              </a:spcAft>
            </a:pPr>
            <a:r>
              <a:rPr sz="1300">
                <a:solidFill>
                  <a:srgbClr val="2E7D32"/>
                </a:solidFill>
              </a:rPr>
              <a:t>(s[2], s[3]) ∈ rf⁺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406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212121"/>
                </a:solidFill>
              </a:rPr>
              <a:t>Step 1 — Join Up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212121"/>
                </a:solidFill>
              </a:rPr>
              <a:t>    ⟹  </a:t>
            </a:r>
            <a:r>
              <a:rPr sz="1600" b="0">
                <a:solidFill>
                  <a:srgbClr val="1212CC"/>
                </a:solidFill>
              </a:rPr>
              <a:t>(s[1], s[3]) ∈ (po⁺ ⋈ rf)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2000" b="1">
                <a:solidFill>
                  <a:srgbClr val="212121"/>
                </a:solidFill>
              </a:rPr>
              <a:t>Step 2 — instantiate thread at s[1], s[3]  (single thread)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212CC"/>
                </a:solidFill>
              </a:rPr>
              <a:t>    thread(s[1]) = thread(s[3])  ⟹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212CC"/>
                </a:solidFill>
              </a:rPr>
              <a:t>      s[1] = s[3]  ∨  (s[1],s[3]) ∈ po⁺  ∨  (s[3],s[1]) ∈ po⁺</a:t>
            </a:r>
            <a:r>
              <a:rPr sz="1300" b="0">
                <a:solidFill>
                  <a:srgbClr val="AAAAAA"/>
                </a:solidFill>
              </a:rPr>
              <a:t>   (split 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0"/>
            <a:ext cx="11155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212121"/>
                </a:solidFill>
              </a:rPr>
              <a:t>①  s[1] = s[3] :  </a:t>
            </a:r>
            <a:r>
              <a:rPr sz="1600" b="0">
                <a:solidFill>
                  <a:srgbClr val="1212CC"/>
                </a:solidFill>
              </a:rPr>
              <a:t>with (s[1],s[3]) ∈ (po⁺ ⋈ rf)  ⟹  contradicts irreflexive(po⁺ ⋈ rf).   </a:t>
            </a:r>
            <a:r>
              <a:rPr sz="1600" b="1">
                <a:solidFill>
                  <a:srgbClr val="D32F2F"/>
                </a:solidFill>
              </a:rPr>
              <a:t>UNSAT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212121"/>
                </a:solidFill>
              </a:rPr>
              <a:t>②  (s[1], s[3]) ∈ po⁺ :  </a:t>
            </a:r>
            <a:r>
              <a:rPr sz="1600" b="0">
                <a:solidFill>
                  <a:srgbClr val="1212CC"/>
                </a:solidFill>
              </a:rPr>
              <a:t>ContrMinimal — non-consecutive elements related by a transitive closure  ⟹  smaller cycle.   </a:t>
            </a:r>
            <a:r>
              <a:rPr sz="1600" b="1">
                <a:solidFill>
                  <a:srgbClr val="D32F2F"/>
                </a:solidFill>
              </a:rPr>
              <a:t>UNSAT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12121"/>
                </a:solidFill>
              </a:rPr>
              <a:t>③  (s[3], s[1]) ∈ po⁺ :  </a:t>
            </a:r>
            <a:r>
              <a:rPr sz="1600" b="0">
                <a:solidFill>
                  <a:srgbClr val="1212CC"/>
                </a:solidFill>
              </a:rPr>
              <a:t>TClos Up II ⟹ (s[3],s[2]) ∈ po⁺;   Join Up ⟹ (s[3],s[3]) ∈ (po⁺ ⋈ rf)  ⟹  contradicts irreflexive(po⁺ ⋈ rf).   </a:t>
            </a:r>
            <a:r>
              <a:rPr sz="1600" b="1">
                <a:solidFill>
                  <a:srgbClr val="D32F2F"/>
                </a:solidFill>
              </a:rPr>
              <a:t>UNSAT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5897880"/>
            <a:ext cx="8503920" cy="7315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D3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D32F2F"/>
                </a:solidFill>
              </a:rPr>
              <a:t>All other cases similar  ⟹  Example 3 is unsat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